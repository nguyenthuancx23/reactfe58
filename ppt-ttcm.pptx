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3" r:id="rId3"/>
    <p:sldId id="262" r:id="rId4"/>
    <p:sldId id="272" r:id="rId5"/>
    <p:sldId id="274" r:id="rId6"/>
    <p:sldId id="275" r:id="rId7"/>
    <p:sldId id="276" r:id="rId8"/>
    <p:sldId id="277" r:id="rId9"/>
    <p:sldId id="278" r:id="rId10"/>
    <p:sldId id="279" r:id="rId11"/>
    <p:sldId id="280" r:id="rId12"/>
    <p:sldId id="281" r:id="rId13"/>
    <p:sldId id="282" r:id="rId14"/>
    <p:sldId id="261"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118"/>
    <a:srgbClr val="F70360"/>
    <a:srgbClr val="FA06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0" autoAdjust="0"/>
    <p:restoredTop sz="94660"/>
  </p:normalViewPr>
  <p:slideViewPr>
    <p:cSldViewPr>
      <p:cViewPr varScale="1">
        <p:scale>
          <a:sx n="100" d="100"/>
          <a:sy n="100" d="100"/>
        </p:scale>
        <p:origin x="-336"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328702-633C-4F70-8B53-8514E3E7250E}" type="datetimeFigureOut">
              <a:rPr lang="en-US" smtClean="0"/>
              <a:t>6/26/2021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490163-FAFD-47D6-BE4F-B2E71F8CC245}" type="slidenum">
              <a:rPr lang="en-US" smtClean="0"/>
              <a:t>‹#›</a:t>
            </a:fld>
            <a:endParaRPr lang="en-US"/>
          </a:p>
        </p:txBody>
      </p:sp>
    </p:spTree>
    <p:extLst>
      <p:ext uri="{BB962C8B-B14F-4D97-AF65-F5344CB8AC3E}">
        <p14:creationId xmlns:p14="http://schemas.microsoft.com/office/powerpoint/2010/main" val="1058189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490163-FAFD-47D6-BE4F-B2E71F8CC245}" type="slidenum">
              <a:rPr lang="en-US" smtClean="0"/>
              <a:t>1</a:t>
            </a:fld>
            <a:endParaRPr lang="en-US"/>
          </a:p>
        </p:txBody>
      </p:sp>
    </p:spTree>
    <p:extLst>
      <p:ext uri="{BB962C8B-B14F-4D97-AF65-F5344CB8AC3E}">
        <p14:creationId xmlns:p14="http://schemas.microsoft.com/office/powerpoint/2010/main" val="1412073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C48AD7-E71C-4EF3-8479-A49C30280DCE}" type="datetimeFigureOut">
              <a:rPr lang="en-US" smtClean="0"/>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738424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C48AD7-E71C-4EF3-8479-A49C30280DCE}" type="datetimeFigureOut">
              <a:rPr lang="en-US" smtClean="0"/>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13773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48AD7-E71C-4EF3-8479-A49C30280DCE}" type="datetimeFigureOut">
              <a:rPr lang="en-US" smtClean="0"/>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76946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C48AD7-E71C-4EF3-8479-A49C30280DCE}" type="datetimeFigureOut">
              <a:rPr lang="en-US" smtClean="0"/>
              <a:t>6/26/2021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529774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C48AD7-E71C-4EF3-8479-A49C30280DCE}" type="datetimeFigureOut">
              <a:rPr lang="en-US" smtClean="0"/>
              <a:t>6/26/2021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989528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C48AD7-E71C-4EF3-8479-A49C30280DCE}" type="datetimeFigureOut">
              <a:rPr lang="en-US" smtClean="0"/>
              <a:t>6/26/2021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33335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C48AD7-E71C-4EF3-8479-A49C30280DCE}" type="datetimeFigureOut">
              <a:rPr lang="en-US" smtClean="0"/>
              <a:t>6/26/2021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4109340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48AD7-E71C-4EF3-8479-A49C30280DCE}" type="datetimeFigureOut">
              <a:rPr lang="en-US" smtClean="0"/>
              <a:t>6/26/2021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68760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48AD7-E71C-4EF3-8479-A49C30280DCE}" type="datetimeFigureOut">
              <a:rPr lang="en-US" smtClean="0"/>
              <a:t>6/26/2021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65499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C48AD7-E71C-4EF3-8479-A49C30280DCE}" type="datetimeFigureOut">
              <a:rPr lang="en-US" smtClean="0"/>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2077375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C48AD7-E71C-4EF3-8479-A49C30280DCE}" type="datetimeFigureOut">
              <a:rPr lang="en-US" smtClean="0"/>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110143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3C48AD7-E71C-4EF3-8479-A49C30280DCE}" type="datetimeFigureOut">
              <a:rPr lang="en-US" smtClean="0"/>
              <a:t>6/26/2021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3A973BD-8CE5-47C4-B8E5-573200B24DAB}" type="slidenum">
              <a:rPr lang="en-US" smtClean="0"/>
              <a:t>‹#›</a:t>
            </a:fld>
            <a:endParaRPr lang="en-US"/>
          </a:p>
        </p:txBody>
      </p:sp>
    </p:spTree>
    <p:extLst>
      <p:ext uri="{BB962C8B-B14F-4D97-AF65-F5344CB8AC3E}">
        <p14:creationId xmlns:p14="http://schemas.microsoft.com/office/powerpoint/2010/main" val="164352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4.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50"/>
            <a:ext cx="9144000" cy="5143499"/>
          </a:xfrm>
          <a:prstGeom prst="rect">
            <a:avLst/>
          </a:prstGeom>
        </p:spPr>
      </p:pic>
      <p:sp>
        <p:nvSpPr>
          <p:cNvPr id="2" name="TextBox 1"/>
          <p:cNvSpPr txBox="1"/>
          <p:nvPr/>
        </p:nvSpPr>
        <p:spPr>
          <a:xfrm>
            <a:off x="0" y="918924"/>
            <a:ext cx="3733799" cy="2400657"/>
          </a:xfrm>
          <a:prstGeom prst="rect">
            <a:avLst/>
          </a:prstGeom>
          <a:noFill/>
        </p:spPr>
        <p:txBody>
          <a:bodyPr wrap="square" rtlCol="0">
            <a:spAutoFit/>
          </a:bodyPr>
          <a:lstStyle/>
          <a:p>
            <a:r>
              <a:rPr lang="en-US" sz="5000" b="1" smtClean="0">
                <a:solidFill>
                  <a:srgbClr val="0070C0"/>
                </a:solidFill>
                <a:latin typeface="Times New Roman" panose="02020603050405020304" pitchFamily="18" charset="0"/>
                <a:cs typeface="Times New Roman" panose="02020603050405020304" pitchFamily="18" charset="0"/>
              </a:rPr>
              <a:t>Chào mừng thầy cô và các bạn</a:t>
            </a:r>
            <a:endParaRPr lang="en-US" sz="5000" b="1">
              <a:solidFill>
                <a:srgbClr val="0070C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 y="57150"/>
            <a:ext cx="4267199" cy="861774"/>
          </a:xfrm>
          <a:prstGeom prst="rect">
            <a:avLst/>
          </a:prstGeom>
          <a:noFill/>
        </p:spPr>
        <p:txBody>
          <a:bodyPr wrap="square" rtlCol="0">
            <a:spAutoFit/>
          </a:bodyPr>
          <a:lstStyle/>
          <a:p>
            <a:pPr algn="ctr"/>
            <a:r>
              <a:rPr lang="en-US" sz="1600">
                <a:solidFill>
                  <a:srgbClr val="0070C0"/>
                </a:solidFill>
                <a:latin typeface="Times New Roman" panose="02020603050405020304" pitchFamily="18" charset="0"/>
                <a:cs typeface="Times New Roman" panose="02020603050405020304" pitchFamily="18" charset="0"/>
              </a:rPr>
              <a:t>TRƯỜNG ĐẠI HỌC GIAO THÔNG VẬN TẢI </a:t>
            </a:r>
          </a:p>
          <a:p>
            <a:pPr algn="ctr"/>
            <a:r>
              <a:rPr lang="en-US" sz="1600">
                <a:solidFill>
                  <a:srgbClr val="0070C0"/>
                </a:solidFill>
                <a:latin typeface="Times New Roman" panose="02020603050405020304" pitchFamily="18" charset="0"/>
                <a:cs typeface="Times New Roman" panose="02020603050405020304" pitchFamily="18" charset="0"/>
              </a:rPr>
              <a:t>PHÂN HIỆU TẠI TP.HỒ CHÍ MINH</a:t>
            </a:r>
          </a:p>
          <a:p>
            <a:endParaRPr lang="en-US"/>
          </a:p>
        </p:txBody>
      </p:sp>
    </p:spTree>
    <p:extLst>
      <p:ext uri="{BB962C8B-B14F-4D97-AF65-F5344CB8AC3E}">
        <p14:creationId xmlns:p14="http://schemas.microsoft.com/office/powerpoint/2010/main" val="850661233"/>
      </p:ext>
    </p:extLst>
  </p:cSld>
  <p:clrMapOvr>
    <a:masterClrMapping/>
  </p:clrMapOvr>
  <p:transition spd="med">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itle 3"/>
          <p:cNvSpPr>
            <a:spLocks noGrp="1"/>
          </p:cNvSpPr>
          <p:nvPr>
            <p:ph type="ctrTitle"/>
          </p:nvPr>
        </p:nvSpPr>
        <p:spPr>
          <a:xfrm>
            <a:off x="685800" y="895350"/>
            <a:ext cx="7772400" cy="1676400"/>
          </a:xfrm>
        </p:spPr>
        <p:txBody>
          <a:bodyPr>
            <a:noAutofit/>
          </a:bodyPr>
          <a:lstStyle/>
          <a:p>
            <a:r>
              <a:rPr lang="en-US" sz="2500" b="1">
                <a:latin typeface="Times New Roman" panose="02020603050405020304" pitchFamily="18" charset="0"/>
                <a:cs typeface="Times New Roman" panose="02020603050405020304" pitchFamily="18" charset="0"/>
              </a:rPr>
              <a:t>MÔN </a:t>
            </a:r>
            <a:r>
              <a:rPr lang="en-US" sz="2500" b="1" smtClean="0">
                <a:latin typeface="Times New Roman" panose="02020603050405020304" pitchFamily="18" charset="0"/>
                <a:cs typeface="Times New Roman" panose="02020603050405020304" pitchFamily="18" charset="0"/>
              </a:rPr>
              <a:t>HỌC:THỰC TẬP CHUYÊN MÔN</a:t>
            </a:r>
            <a:br>
              <a:rPr lang="en-US" sz="2500" b="1" smtClean="0">
                <a:latin typeface="Times New Roman" panose="02020603050405020304" pitchFamily="18" charset="0"/>
                <a:cs typeface="Times New Roman" panose="02020603050405020304" pitchFamily="18" charset="0"/>
              </a:rPr>
            </a:br>
            <a:r>
              <a:rPr lang="en-US" sz="2500" b="1">
                <a:latin typeface="Times New Roman" panose="02020603050405020304" pitchFamily="18" charset="0"/>
                <a:cs typeface="Times New Roman" panose="02020603050405020304" pitchFamily="18" charset="0"/>
              </a:rPr>
              <a:t/>
            </a:r>
            <a:br>
              <a:rPr lang="en-US" sz="2500" b="1">
                <a:latin typeface="Times New Roman" panose="02020603050405020304" pitchFamily="18" charset="0"/>
                <a:cs typeface="Times New Roman" panose="02020603050405020304" pitchFamily="18" charset="0"/>
              </a:rPr>
            </a:br>
            <a:r>
              <a:rPr lang="en-US" sz="2500" b="1">
                <a:latin typeface="Times New Roman" panose="02020603050405020304" pitchFamily="18" charset="0"/>
                <a:cs typeface="Times New Roman" panose="02020603050405020304" pitchFamily="18" charset="0"/>
              </a:rPr>
              <a:t>ĐỀ TÀI: </a:t>
            </a:r>
            <a:r>
              <a:rPr lang="en-US" sz="2500" b="1" smtClean="0">
                <a:latin typeface="Times New Roman" panose="02020603050405020304" pitchFamily="18" charset="0"/>
                <a:cs typeface="Times New Roman" panose="02020603050405020304" pitchFamily="18" charset="0"/>
              </a:rPr>
              <a:t>TÌM HIỂU REACT – REDUX LÀM MỘT SỐ GAME ĐƠN GIẢN</a:t>
            </a:r>
            <a:endParaRPr lang="en-US" sz="2500" b="1"/>
          </a:p>
        </p:txBody>
      </p:sp>
      <p:sp>
        <p:nvSpPr>
          <p:cNvPr id="5" name="Subtitle 4"/>
          <p:cNvSpPr>
            <a:spLocks noGrp="1"/>
          </p:cNvSpPr>
          <p:nvPr>
            <p:ph type="subTitle" idx="1"/>
          </p:nvPr>
        </p:nvSpPr>
        <p:spPr>
          <a:xfrm>
            <a:off x="685800" y="2800350"/>
            <a:ext cx="6477000" cy="1314450"/>
          </a:xfrm>
        </p:spPr>
        <p:txBody>
          <a:bodyPr>
            <a:noAutofit/>
          </a:bodyPr>
          <a:lstStyle/>
          <a:p>
            <a:pPr algn="l"/>
            <a:r>
              <a:rPr lang="en-US" sz="2500" smtClean="0">
                <a:solidFill>
                  <a:schemeClr val="tx1"/>
                </a:solidFill>
                <a:latin typeface="Times New Roman" panose="02020603050405020304" pitchFamily="18" charset="0"/>
                <a:cs typeface="Times New Roman" panose="02020603050405020304" pitchFamily="18" charset="0"/>
              </a:rPr>
              <a:t>Sinh viên thực hiện : Nguyễn Hữu Thuận</a:t>
            </a:r>
          </a:p>
          <a:p>
            <a:pPr algn="l"/>
            <a:r>
              <a:rPr lang="en-US" sz="2500" smtClean="0">
                <a:solidFill>
                  <a:schemeClr val="tx1"/>
                </a:solidFill>
                <a:latin typeface="Times New Roman" panose="02020603050405020304" pitchFamily="18" charset="0"/>
                <a:cs typeface="Times New Roman" panose="02020603050405020304" pitchFamily="18" charset="0"/>
              </a:rPr>
              <a:t>Lớp : Công nghệ thông tin</a:t>
            </a:r>
          </a:p>
          <a:p>
            <a:pPr algn="l"/>
            <a:r>
              <a:rPr lang="en-US" sz="2500" smtClean="0">
                <a:solidFill>
                  <a:schemeClr val="tx1"/>
                </a:solidFill>
                <a:latin typeface="Times New Roman" panose="02020603050405020304" pitchFamily="18" charset="0"/>
                <a:cs typeface="Times New Roman" panose="02020603050405020304" pitchFamily="18" charset="0"/>
              </a:rPr>
              <a:t>Khóa :58</a:t>
            </a:r>
            <a:endParaRPr lang="en-US" sz="2500">
              <a:solidFill>
                <a:schemeClr val="tx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371600" y="30719"/>
            <a:ext cx="6096000" cy="646331"/>
          </a:xfrm>
          <a:prstGeom prst="rect">
            <a:avLst/>
          </a:prstGeom>
          <a:noFill/>
        </p:spPr>
        <p:txBody>
          <a:bodyPr wrap="square" rtlCol="0">
            <a:spAutoFit/>
          </a:bodyPr>
          <a:lstStyle/>
          <a:p>
            <a:pPr algn="ctr"/>
            <a:r>
              <a:rPr lang="en-US">
                <a:solidFill>
                  <a:schemeClr val="bg1"/>
                </a:solidFill>
                <a:latin typeface="Times New Roman" panose="02020603050405020304" pitchFamily="18" charset="0"/>
                <a:cs typeface="Times New Roman" panose="02020603050405020304" pitchFamily="18" charset="0"/>
              </a:rPr>
              <a:t>TRƯỜNG ĐẠI HỌC GIAO THÔNG VẬN TẢI </a:t>
            </a:r>
          </a:p>
          <a:p>
            <a:pPr algn="ctr"/>
            <a:r>
              <a:rPr lang="en-US">
                <a:solidFill>
                  <a:schemeClr val="bg1"/>
                </a:solidFill>
                <a:latin typeface="Times New Roman" panose="02020603050405020304" pitchFamily="18" charset="0"/>
                <a:cs typeface="Times New Roman" panose="02020603050405020304" pitchFamily="18" charset="0"/>
              </a:rPr>
              <a:t>PHÂN HIỆU TẠI TP.HỒ CHÍ MINH</a:t>
            </a:r>
          </a:p>
        </p:txBody>
      </p:sp>
    </p:spTree>
    <p:extLst>
      <p:ext uri="{BB962C8B-B14F-4D97-AF65-F5344CB8AC3E}">
        <p14:creationId xmlns:p14="http://schemas.microsoft.com/office/powerpoint/2010/main" val="3117683468"/>
      </p:ext>
    </p:extLst>
  </p:cSld>
  <p:clrMapOvr>
    <a:masterClrMapping/>
  </p:clrMapOvr>
  <p:transition spd="med">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sp>
        <p:nvSpPr>
          <p:cNvPr id="11" name="Oval 10">
            <a:extLst>
              <a:ext uri="{FF2B5EF4-FFF2-40B4-BE49-F238E27FC236}">
                <a16:creationId xmlns="" xmlns:a16="http://schemas.microsoft.com/office/drawing/2014/main" id="{00F5B520-54E1-4E14-A33B-FF0FFCABD2A9}"/>
              </a:ext>
            </a:extLst>
          </p:cNvPr>
          <p:cNvSpPr/>
          <p:nvPr/>
        </p:nvSpPr>
        <p:spPr>
          <a:xfrm>
            <a:off x="4648200" y="914400"/>
            <a:ext cx="1066800" cy="76461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 xmlns:a16="http://schemas.microsoft.com/office/drawing/2014/main" id="{4C4F7118-F56B-4CF6-BE59-3AC3611D10F1}"/>
              </a:ext>
            </a:extLst>
          </p:cNvPr>
          <p:cNvSpPr/>
          <p:nvPr/>
        </p:nvSpPr>
        <p:spPr>
          <a:xfrm>
            <a:off x="4526507" y="4038879"/>
            <a:ext cx="1219199" cy="81093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9" name="Picture 8">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itle 3"/>
          <p:cNvSpPr>
            <a:spLocks noGrp="1"/>
          </p:cNvSpPr>
          <p:nvPr>
            <p:ph type="ctrTitle"/>
          </p:nvPr>
        </p:nvSpPr>
        <p:spPr>
          <a:xfrm>
            <a:off x="304800" y="800102"/>
            <a:ext cx="8001000" cy="496608"/>
          </a:xfrm>
        </p:spPr>
        <p:txBody>
          <a:bodyPr>
            <a:noAutofit/>
          </a:bodyPr>
          <a:lstStyle/>
          <a:p>
            <a:pPr algn="just"/>
            <a:r>
              <a:rPr lang="en-US" sz="3000" b="1" smtClean="0">
                <a:latin typeface="Times New Roman" panose="02020603050405020304" pitchFamily="18" charset="0"/>
                <a:cs typeface="Times New Roman" panose="02020603050405020304" pitchFamily="18" charset="0"/>
              </a:rPr>
              <a:t>1. ReactJs là gì ?</a:t>
            </a:r>
            <a:endParaRPr lang="en-US" sz="3000" b="1">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304800" y="1296709"/>
            <a:ext cx="8001000" cy="3147637"/>
          </a:xfrm>
        </p:spPr>
        <p:txBody>
          <a:bodyPr>
            <a:normAutofit/>
          </a:bodyPr>
          <a:lstStyle/>
          <a:p>
            <a:pPr marL="342900" indent="-342900" algn="just">
              <a:buFont typeface="Wingdings" panose="05000000000000000000" pitchFamily="2" charset="2"/>
              <a:buChar char="Ø"/>
            </a:pPr>
            <a:r>
              <a:rPr lang="vi-VN" sz="2700">
                <a:solidFill>
                  <a:schemeClr val="tx1"/>
                </a:solidFill>
                <a:latin typeface="+mj-lt"/>
              </a:rPr>
              <a:t>React là một thư viện javascript </a:t>
            </a:r>
            <a:r>
              <a:rPr lang="en-US" sz="2700" smtClean="0">
                <a:solidFill>
                  <a:schemeClr val="tx1"/>
                </a:solidFill>
                <a:latin typeface="Times New Roman" panose="02020603050405020304" pitchFamily="18" charset="0"/>
                <a:cs typeface="Times New Roman" panose="02020603050405020304" pitchFamily="18" charset="0"/>
              </a:rPr>
              <a:t>mã nguồn mở được thiết kế bởi facebook </a:t>
            </a:r>
            <a:r>
              <a:rPr lang="vi-VN" sz="2700" smtClean="0">
                <a:solidFill>
                  <a:schemeClr val="tx1"/>
                </a:solidFill>
                <a:latin typeface="+mj-lt"/>
              </a:rPr>
              <a:t>dùng </a:t>
            </a:r>
            <a:r>
              <a:rPr lang="vi-VN" sz="2700">
                <a:solidFill>
                  <a:schemeClr val="tx1"/>
                </a:solidFill>
                <a:latin typeface="+mj-lt"/>
              </a:rPr>
              <a:t>để xây dựng </a:t>
            </a:r>
            <a:r>
              <a:rPr lang="vi-VN" sz="2700" smtClean="0">
                <a:solidFill>
                  <a:schemeClr val="tx1"/>
                </a:solidFill>
                <a:latin typeface="+mj-lt"/>
              </a:rPr>
              <a:t>giao</a:t>
            </a:r>
            <a:r>
              <a:rPr lang="en-US" sz="2700" smtClean="0">
                <a:solidFill>
                  <a:schemeClr val="tx1"/>
                </a:solidFill>
                <a:latin typeface="+mj-lt"/>
              </a:rPr>
              <a:t> </a:t>
            </a:r>
            <a:r>
              <a:rPr lang="vi-VN" sz="2700" smtClean="0">
                <a:solidFill>
                  <a:schemeClr val="tx1"/>
                </a:solidFill>
                <a:latin typeface="+mj-lt"/>
              </a:rPr>
              <a:t>diện theo kiến</a:t>
            </a:r>
            <a:r>
              <a:rPr lang="en-US" sz="2700" smtClean="0">
                <a:solidFill>
                  <a:schemeClr val="tx1"/>
                </a:solidFill>
                <a:latin typeface="+mj-lt"/>
              </a:rPr>
              <a:t> </a:t>
            </a:r>
            <a:r>
              <a:rPr lang="vi-VN" sz="2700" smtClean="0">
                <a:solidFill>
                  <a:schemeClr val="tx1"/>
                </a:solidFill>
                <a:latin typeface="+mj-lt"/>
              </a:rPr>
              <a:t>trúc component</a:t>
            </a:r>
            <a:r>
              <a:rPr lang="en-US" sz="2700" smtClean="0">
                <a:solidFill>
                  <a:schemeClr val="tx1"/>
                </a:solidFill>
                <a:latin typeface="+mj-lt"/>
              </a:rPr>
              <a:t>.</a:t>
            </a:r>
          </a:p>
          <a:p>
            <a:pPr marL="342900" indent="-342900" algn="just">
              <a:buFont typeface="Wingdings" panose="05000000000000000000" pitchFamily="2" charset="2"/>
              <a:buChar char="Ø"/>
            </a:pPr>
            <a:r>
              <a:rPr lang="en-US" sz="2700">
                <a:solidFill>
                  <a:schemeClr val="tx1"/>
                </a:solidFill>
                <a:latin typeface="Times New Roman" panose="02020603050405020304" pitchFamily="18" charset="0"/>
                <a:cs typeface="Times New Roman" panose="02020603050405020304" pitchFamily="18" charset="0"/>
              </a:rPr>
              <a:t>React hỗ trợ xây </a:t>
            </a:r>
            <a:r>
              <a:rPr lang="en-US" sz="2700" smtClean="0">
                <a:solidFill>
                  <a:schemeClr val="tx1"/>
                </a:solidFill>
                <a:latin typeface="Times New Roman" panose="02020603050405020304" pitchFamily="18" charset="0"/>
                <a:cs typeface="Times New Roman" panose="02020603050405020304" pitchFamily="18" charset="0"/>
              </a:rPr>
              <a:t>dựng Web </a:t>
            </a:r>
            <a:r>
              <a:rPr lang="en-US" sz="2700">
                <a:solidFill>
                  <a:schemeClr val="tx1"/>
                </a:solidFill>
                <a:latin typeface="Times New Roman" panose="02020603050405020304" pitchFamily="18" charset="0"/>
                <a:cs typeface="Times New Roman" panose="02020603050405020304" pitchFamily="18" charset="0"/>
              </a:rPr>
              <a:t>SPAs (Single </a:t>
            </a:r>
            <a:r>
              <a:rPr lang="en-US" sz="2700" smtClean="0">
                <a:solidFill>
                  <a:schemeClr val="tx1"/>
                </a:solidFill>
                <a:latin typeface="Times New Roman" panose="02020603050405020304" pitchFamily="18" charset="0"/>
                <a:cs typeface="Times New Roman" panose="02020603050405020304" pitchFamily="18" charset="0"/>
              </a:rPr>
              <a:t>page application).</a:t>
            </a:r>
          </a:p>
          <a:p>
            <a:pPr marL="342900" indent="-342900" algn="just">
              <a:buFont typeface="Wingdings" panose="05000000000000000000" pitchFamily="2" charset="2"/>
              <a:buChar char="Ø"/>
            </a:pPr>
            <a:r>
              <a:rPr lang="en-US" sz="2700" smtClean="0">
                <a:solidFill>
                  <a:schemeClr val="tx1"/>
                </a:solidFill>
                <a:latin typeface="Times New Roman" panose="02020603050405020304" pitchFamily="18" charset="0"/>
                <a:cs typeface="Times New Roman" panose="02020603050405020304" pitchFamily="18" charset="0"/>
              </a:rPr>
              <a:t>React </a:t>
            </a:r>
            <a:r>
              <a:rPr lang="en-US" sz="2700">
                <a:solidFill>
                  <a:schemeClr val="tx1"/>
                </a:solidFill>
                <a:latin typeface="Times New Roman" panose="02020603050405020304" pitchFamily="18" charset="0"/>
                <a:cs typeface="Times New Roman" panose="02020603050405020304" pitchFamily="18" charset="0"/>
              </a:rPr>
              <a:t>sử dụng javascript chuẩn ES6 (giống với </a:t>
            </a:r>
            <a:r>
              <a:rPr lang="en-US" sz="2700" smtClean="0">
                <a:solidFill>
                  <a:schemeClr val="tx1"/>
                </a:solidFill>
                <a:latin typeface="Times New Roman" panose="02020603050405020304" pitchFamily="18" charset="0"/>
                <a:cs typeface="Times New Roman" panose="02020603050405020304" pitchFamily="18" charset="0"/>
              </a:rPr>
              <a:t>typescript nhưng </a:t>
            </a:r>
            <a:r>
              <a:rPr lang="en-US" sz="2700">
                <a:solidFill>
                  <a:schemeClr val="tx1"/>
                </a:solidFill>
                <a:latin typeface="Times New Roman" panose="02020603050405020304" pitchFamily="18" charset="0"/>
                <a:cs typeface="Times New Roman" panose="02020603050405020304" pitchFamily="18" charset="0"/>
              </a:rPr>
              <a:t>không có </a:t>
            </a:r>
            <a:r>
              <a:rPr lang="en-US" sz="2700" smtClean="0">
                <a:solidFill>
                  <a:schemeClr val="tx1"/>
                </a:solidFill>
                <a:latin typeface="Times New Roman" panose="02020603050405020304" pitchFamily="18" charset="0"/>
                <a:cs typeface="Times New Roman" panose="02020603050405020304" pitchFamily="18" charset="0"/>
              </a:rPr>
              <a:t>kiểu dữ </a:t>
            </a:r>
            <a:r>
              <a:rPr lang="en-US" sz="2700">
                <a:solidFill>
                  <a:schemeClr val="tx1"/>
                </a:solidFill>
                <a:latin typeface="Times New Roman" panose="02020603050405020304" pitchFamily="18" charset="0"/>
                <a:cs typeface="Times New Roman" panose="02020603050405020304" pitchFamily="18" charset="0"/>
              </a:rPr>
              <a:t>liệu</a:t>
            </a:r>
            <a:r>
              <a:rPr lang="en-US" sz="2700" smtClean="0">
                <a:solidFill>
                  <a:schemeClr val="tx1"/>
                </a:solidFill>
                <a:latin typeface="Times New Roman" panose="02020603050405020304" pitchFamily="18" charset="0"/>
                <a:cs typeface="Times New Roman" panose="02020603050405020304" pitchFamily="18" charset="0"/>
              </a:rPr>
              <a:t>).</a:t>
            </a:r>
            <a:endParaRPr lang="en-US" sz="2500">
              <a:latin typeface="+mj-lt"/>
            </a:endParaRPr>
          </a:p>
        </p:txBody>
      </p:sp>
    </p:spTree>
    <p:extLst>
      <p:ext uri="{BB962C8B-B14F-4D97-AF65-F5344CB8AC3E}">
        <p14:creationId xmlns:p14="http://schemas.microsoft.com/office/powerpoint/2010/main" val="3839039997"/>
      </p:ext>
    </p:extLst>
  </p:cSld>
  <p:clrMapOvr>
    <a:masterClrMapping/>
  </p:clrMapOvr>
  <p:transition spd="med">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5" name="Picture 4">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2" name="TextBox 1"/>
          <p:cNvSpPr txBox="1"/>
          <p:nvPr/>
        </p:nvSpPr>
        <p:spPr>
          <a:xfrm>
            <a:off x="1905000" y="514350"/>
            <a:ext cx="184731" cy="369332"/>
          </a:xfrm>
          <a:prstGeom prst="rect">
            <a:avLst/>
          </a:prstGeom>
          <a:noFill/>
        </p:spPr>
        <p:txBody>
          <a:bodyPr wrap="none" rtlCol="0">
            <a:spAutoFit/>
          </a:bodyPr>
          <a:lstStyle/>
          <a:p>
            <a:endParaRPr lang="en-US"/>
          </a:p>
        </p:txBody>
      </p:sp>
      <p:sp>
        <p:nvSpPr>
          <p:cNvPr id="8" name="TextBox 7">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2" name="Subtitle 8"/>
          <p:cNvSpPr txBox="1">
            <a:spLocks noGrp="1"/>
          </p:cNvSpPr>
          <p:nvPr>
            <p:ph type="subTitle" idx="1"/>
          </p:nvPr>
        </p:nvSpPr>
        <p:spPr>
          <a:xfrm>
            <a:off x="381000" y="971550"/>
            <a:ext cx="8001000" cy="32575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anose="05000000000000000000" pitchFamily="2" charset="2"/>
              <a:buChar char="Ø"/>
            </a:pPr>
            <a:r>
              <a:rPr lang="vi-VN" sz="2700" smtClean="0">
                <a:latin typeface="+mj-lt"/>
              </a:rPr>
              <a:t>ReactJS giúp phân chia các UI phức tạp thành các thành phần nhỏ được gọi là component</a:t>
            </a:r>
            <a:r>
              <a:rPr lang="en-US" sz="2700" smtClean="0">
                <a:latin typeface="+mj-lt"/>
              </a:rPr>
              <a:t>.</a:t>
            </a:r>
          </a:p>
          <a:p>
            <a:pPr marL="457200" indent="-457200" algn="just">
              <a:buFont typeface="Wingdings" panose="05000000000000000000" pitchFamily="2" charset="2"/>
              <a:buChar char="Ø"/>
            </a:pPr>
            <a:r>
              <a:rPr lang="vi-VN" sz="2700" smtClean="0">
                <a:latin typeface="+mj-lt"/>
              </a:rPr>
              <a:t>Một trong những điểm hấp dẫn của ReacJS là nó không chỉ được xây dựng bên phía clients mà còn sử dụng được bên phía server</a:t>
            </a:r>
            <a:endParaRPr lang="en-US" sz="2700" smtClean="0">
              <a:latin typeface="+mj-lt"/>
            </a:endParaRPr>
          </a:p>
          <a:p>
            <a:pPr marL="457200" indent="-457200" algn="just">
              <a:buFont typeface="Wingdings" panose="05000000000000000000" pitchFamily="2" charset="2"/>
              <a:buChar char="Ø"/>
            </a:pPr>
            <a:r>
              <a:rPr lang="en-US" sz="2700" smtClean="0">
                <a:latin typeface="Times New Roman" panose="02020603050405020304" pitchFamily="18" charset="0"/>
                <a:cs typeface="Times New Roman" panose="02020603050405020304" pitchFamily="18" charset="0"/>
              </a:rPr>
              <a:t>Môi trường chạy React hiện đang dùng là visual studio code.</a:t>
            </a:r>
            <a:endParaRPr lang="en-US" sz="27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90908"/>
      </p:ext>
    </p:extLst>
  </p:cSld>
  <p:clrMapOvr>
    <a:masterClrMapping/>
  </p:clrMapOvr>
  <p:transition spd="med">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itle 5"/>
          <p:cNvSpPr>
            <a:spLocks noGrp="1"/>
          </p:cNvSpPr>
          <p:nvPr>
            <p:ph type="ctrTitle"/>
          </p:nvPr>
        </p:nvSpPr>
        <p:spPr>
          <a:xfrm>
            <a:off x="457200" y="800101"/>
            <a:ext cx="8001000" cy="552449"/>
          </a:xfrm>
        </p:spPr>
        <p:txBody>
          <a:bodyPr>
            <a:normAutofit/>
          </a:bodyPr>
          <a:lstStyle/>
          <a:p>
            <a:pPr algn="l"/>
            <a:r>
              <a:rPr lang="en-US" sz="3000" b="1" smtClean="0">
                <a:latin typeface="Times New Roman" panose="02020603050405020304" pitchFamily="18" charset="0"/>
                <a:cs typeface="Times New Roman" panose="02020603050405020304" pitchFamily="18" charset="0"/>
              </a:rPr>
              <a:t>2. Jsx là gì ?</a:t>
            </a:r>
            <a:endParaRPr lang="en-US" sz="3000" b="1">
              <a:latin typeface="Times New Roman" panose="02020603050405020304" pitchFamily="18" charset="0"/>
              <a:cs typeface="Times New Roman" panose="02020603050405020304" pitchFamily="18" charset="0"/>
            </a:endParaRPr>
          </a:p>
        </p:txBody>
      </p:sp>
      <p:sp>
        <p:nvSpPr>
          <p:cNvPr id="7" name="Subtitle 6"/>
          <p:cNvSpPr>
            <a:spLocks noGrp="1"/>
          </p:cNvSpPr>
          <p:nvPr>
            <p:ph type="subTitle" idx="1"/>
          </p:nvPr>
        </p:nvSpPr>
        <p:spPr>
          <a:xfrm>
            <a:off x="457200" y="1352550"/>
            <a:ext cx="7848600" cy="3124200"/>
          </a:xfrm>
        </p:spPr>
        <p:txBody>
          <a:bodyPr>
            <a:normAutofit fontScale="92500" lnSpcReduction="10000"/>
          </a:bodyPr>
          <a:lstStyle/>
          <a:p>
            <a:pPr marL="457200" indent="-457200" algn="just">
              <a:buFont typeface="Wingdings" panose="05000000000000000000" pitchFamily="2" charset="2"/>
              <a:buChar char="Ø"/>
            </a:pPr>
            <a:r>
              <a:rPr lang="en-US" sz="2700" smtClean="0">
                <a:solidFill>
                  <a:schemeClr val="tx1"/>
                </a:solidFill>
                <a:latin typeface="+mj-lt"/>
              </a:rPr>
              <a:t> </a:t>
            </a:r>
            <a:r>
              <a:rPr lang="vi-VN" sz="2700" smtClean="0">
                <a:solidFill>
                  <a:schemeClr val="tx1"/>
                </a:solidFill>
                <a:latin typeface="+mj-lt"/>
              </a:rPr>
              <a:t>JSX</a:t>
            </a:r>
            <a:r>
              <a:rPr lang="vi-VN" sz="2700">
                <a:solidFill>
                  <a:schemeClr val="tx1"/>
                </a:solidFill>
                <a:latin typeface="+mj-lt"/>
              </a:rPr>
              <a:t> là viết tắt là Javascript XML, một template languges nhưng nó lại mang hầu hết tính năng của </a:t>
            </a:r>
            <a:r>
              <a:rPr lang="vi-VN" sz="2700" smtClean="0">
                <a:solidFill>
                  <a:schemeClr val="tx1"/>
                </a:solidFill>
                <a:latin typeface="+mj-lt"/>
              </a:rPr>
              <a:t>Javascript</a:t>
            </a:r>
            <a:endParaRPr lang="en-US" sz="2700" smtClean="0">
              <a:solidFill>
                <a:schemeClr val="tx1"/>
              </a:solidFill>
              <a:latin typeface="+mj-lt"/>
            </a:endParaRPr>
          </a:p>
          <a:p>
            <a:pPr marL="457200" indent="-457200" algn="just">
              <a:buFont typeface="Wingdings" panose="05000000000000000000" pitchFamily="2" charset="2"/>
              <a:buChar char="Ø"/>
            </a:pPr>
            <a:r>
              <a:rPr lang="vi-VN" sz="2700">
                <a:solidFill>
                  <a:schemeClr val="tx1"/>
                </a:solidFill>
                <a:latin typeface="+mj-lt"/>
              </a:rPr>
              <a:t>Nó cho phép bạn viết các đoạn mã HTML trong React một cách dẽ dàng và có cấu trúc </a:t>
            </a:r>
            <a:r>
              <a:rPr lang="vi-VN" sz="2700" smtClean="0">
                <a:solidFill>
                  <a:schemeClr val="tx1"/>
                </a:solidFill>
                <a:latin typeface="+mj-lt"/>
              </a:rPr>
              <a:t>hơn</a:t>
            </a:r>
            <a:r>
              <a:rPr lang="en-US" sz="2700" smtClean="0">
                <a:solidFill>
                  <a:schemeClr val="tx1"/>
                </a:solidFill>
                <a:latin typeface="+mj-lt"/>
              </a:rPr>
              <a:t>.</a:t>
            </a:r>
          </a:p>
          <a:p>
            <a:pPr marL="457200" indent="-457200" algn="just">
              <a:buFont typeface="Wingdings" panose="05000000000000000000" pitchFamily="2" charset="2"/>
              <a:buChar char="Ø"/>
            </a:pPr>
            <a:r>
              <a:rPr lang="vi-VN" sz="2700">
                <a:solidFill>
                  <a:schemeClr val="tx1"/>
                </a:solidFill>
                <a:latin typeface="+mj-lt"/>
              </a:rPr>
              <a:t>JSX giúp cho việc xây dựng các ứng dụng React một cách nhanh hơn, dễ tối ưu trong việc complie code sang </a:t>
            </a:r>
            <a:r>
              <a:rPr lang="vi-VN" sz="2700" smtClean="0">
                <a:solidFill>
                  <a:schemeClr val="tx1"/>
                </a:solidFill>
                <a:latin typeface="+mj-lt"/>
              </a:rPr>
              <a:t>javascript</a:t>
            </a:r>
            <a:r>
              <a:rPr lang="en-US" sz="2700" smtClean="0">
                <a:solidFill>
                  <a:schemeClr val="tx1"/>
                </a:solidFill>
                <a:latin typeface="+mj-lt"/>
              </a:rPr>
              <a:t>. </a:t>
            </a:r>
            <a:r>
              <a:rPr lang="en-US" sz="2700" smtClean="0">
                <a:solidFill>
                  <a:schemeClr val="tx1"/>
                </a:solidFill>
                <a:latin typeface="Times New Roman" panose="02020603050405020304" pitchFamily="18" charset="0"/>
                <a:cs typeface="Times New Roman" panose="02020603050405020304" pitchFamily="18" charset="0"/>
              </a:rPr>
              <a:t>Rất dễ xem lỗi trong quá trình triển khai.</a:t>
            </a:r>
          </a:p>
          <a:p>
            <a:pPr marL="457200" indent="-457200" algn="just">
              <a:buFont typeface="Wingdings" panose="05000000000000000000" pitchFamily="2" charset="2"/>
              <a:buChar char="Ø"/>
            </a:pPr>
            <a:endParaRPr lang="en-US" sz="2700">
              <a:solidFill>
                <a:schemeClr val="tx1"/>
              </a:solidFill>
              <a:latin typeface="+mj-lt"/>
            </a:endParaRPr>
          </a:p>
        </p:txBody>
      </p:sp>
    </p:spTree>
    <p:extLst>
      <p:ext uri="{BB962C8B-B14F-4D97-AF65-F5344CB8AC3E}">
        <p14:creationId xmlns:p14="http://schemas.microsoft.com/office/powerpoint/2010/main" val="3922786365"/>
      </p:ext>
    </p:extLst>
  </p:cSld>
  <p:clrMapOvr>
    <a:masterClrMapping/>
  </p:clrMapOvr>
  <p:transition spd="med">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itle 5"/>
          <p:cNvSpPr>
            <a:spLocks noGrp="1"/>
          </p:cNvSpPr>
          <p:nvPr>
            <p:ph type="ctrTitle"/>
          </p:nvPr>
        </p:nvSpPr>
        <p:spPr>
          <a:xfrm>
            <a:off x="381000" y="883683"/>
            <a:ext cx="8077200" cy="468867"/>
          </a:xfrm>
        </p:spPr>
        <p:txBody>
          <a:bodyPr>
            <a:noAutofit/>
          </a:bodyPr>
          <a:lstStyle/>
          <a:p>
            <a:pPr algn="l"/>
            <a:r>
              <a:rPr lang="en-US" sz="3000" b="1" smtClean="0">
                <a:latin typeface="Times New Roman" panose="02020603050405020304" pitchFamily="18" charset="0"/>
                <a:cs typeface="Times New Roman" panose="02020603050405020304" pitchFamily="18" charset="0"/>
              </a:rPr>
              <a:t>3. Component ?</a:t>
            </a:r>
            <a:endParaRPr lang="en-US" sz="3000" b="1">
              <a:latin typeface="Times New Roman" panose="02020603050405020304" pitchFamily="18" charset="0"/>
              <a:cs typeface="Times New Roman" panose="02020603050405020304" pitchFamily="18" charset="0"/>
            </a:endParaRPr>
          </a:p>
        </p:txBody>
      </p:sp>
      <p:sp>
        <p:nvSpPr>
          <p:cNvPr id="7" name="Subtitle 6"/>
          <p:cNvSpPr>
            <a:spLocks noGrp="1"/>
          </p:cNvSpPr>
          <p:nvPr>
            <p:ph type="subTitle" idx="1"/>
          </p:nvPr>
        </p:nvSpPr>
        <p:spPr>
          <a:xfrm>
            <a:off x="457200" y="1352550"/>
            <a:ext cx="7848600" cy="2876550"/>
          </a:xfrm>
        </p:spPr>
        <p:txBody>
          <a:bodyPr>
            <a:noAutofit/>
          </a:bodyPr>
          <a:lstStyle/>
          <a:p>
            <a:pPr marL="457200" indent="-457200" algn="just">
              <a:buFont typeface="Wingdings" panose="05000000000000000000" pitchFamily="2" charset="2"/>
              <a:buChar char="Ø"/>
            </a:pPr>
            <a:r>
              <a:rPr lang="vi-VN" sz="2300">
                <a:solidFill>
                  <a:schemeClr val="tx1"/>
                </a:solidFill>
                <a:latin typeface="+mj-lt"/>
              </a:rPr>
              <a:t>Components giúp phân chia các UI (giao diện người dùng) thành các phân nhỏ để dễ dàng quản lý và tái sử dụng</a:t>
            </a:r>
            <a:r>
              <a:rPr lang="vi-VN" sz="2300" smtClean="0">
                <a:solidFill>
                  <a:schemeClr val="tx1"/>
                </a:solidFill>
                <a:latin typeface="+mj-lt"/>
              </a:rPr>
              <a:t>.</a:t>
            </a:r>
            <a:endParaRPr lang="en-US" sz="2300" smtClean="0">
              <a:solidFill>
                <a:schemeClr val="tx1"/>
              </a:solidFill>
              <a:latin typeface="+mj-lt"/>
            </a:endParaRPr>
          </a:p>
          <a:p>
            <a:pPr marL="457200" indent="-457200" algn="just">
              <a:buFont typeface="Wingdings" panose="05000000000000000000" pitchFamily="2" charset="2"/>
              <a:buChar char="Ø"/>
            </a:pPr>
            <a:r>
              <a:rPr lang="vi-VN" sz="2300">
                <a:solidFill>
                  <a:schemeClr val="tx1"/>
                </a:solidFill>
                <a:latin typeface="+mj-lt"/>
              </a:rPr>
              <a:t>Trong mỗi React App đều có thể chứa rất nhiều components, mỗi components trong đó thường nhận về các props và trả về React elements từ đó hiển thị ra cho </a:t>
            </a:r>
            <a:r>
              <a:rPr lang="vi-VN" sz="2300" smtClean="0">
                <a:solidFill>
                  <a:schemeClr val="tx1"/>
                </a:solidFill>
                <a:latin typeface="+mj-lt"/>
              </a:rPr>
              <a:t>UI</a:t>
            </a:r>
            <a:r>
              <a:rPr lang="en-US" sz="2300" smtClean="0">
                <a:solidFill>
                  <a:schemeClr val="tx1"/>
                </a:solidFill>
                <a:latin typeface="+mj-lt"/>
              </a:rPr>
              <a:t>.</a:t>
            </a:r>
          </a:p>
          <a:p>
            <a:pPr marL="457200" indent="-457200" algn="just">
              <a:buFont typeface="Wingdings" panose="05000000000000000000" pitchFamily="2" charset="2"/>
              <a:buChar char="Ø"/>
            </a:pPr>
            <a:r>
              <a:rPr lang="vi-VN" sz="2300">
                <a:solidFill>
                  <a:schemeClr val="tx1"/>
                </a:solidFill>
                <a:latin typeface="+mj-lt"/>
              </a:rPr>
              <a:t> Components trong React thường được viết theo 2 loại chính đó là functional component và class components.</a:t>
            </a:r>
            <a:endParaRPr lang="en-US" sz="2300">
              <a:solidFill>
                <a:schemeClr val="tx1"/>
              </a:solidFill>
              <a:latin typeface="+mj-lt"/>
            </a:endParaRPr>
          </a:p>
        </p:txBody>
      </p:sp>
    </p:spTree>
    <p:extLst>
      <p:ext uri="{BB962C8B-B14F-4D97-AF65-F5344CB8AC3E}">
        <p14:creationId xmlns:p14="http://schemas.microsoft.com/office/powerpoint/2010/main" val="2456945967"/>
      </p:ext>
    </p:extLst>
  </p:cSld>
  <p:clrMapOvr>
    <a:masterClrMapping/>
  </p:clrMapOvr>
  <p:transition spd="med">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itle 5"/>
          <p:cNvSpPr>
            <a:spLocks noGrp="1"/>
          </p:cNvSpPr>
          <p:nvPr>
            <p:ph type="ctrTitle"/>
          </p:nvPr>
        </p:nvSpPr>
        <p:spPr>
          <a:xfrm>
            <a:off x="381000" y="800101"/>
            <a:ext cx="8077200" cy="552449"/>
          </a:xfrm>
        </p:spPr>
        <p:txBody>
          <a:bodyPr>
            <a:normAutofit/>
          </a:bodyPr>
          <a:lstStyle/>
          <a:p>
            <a:pPr algn="l"/>
            <a:r>
              <a:rPr lang="en-US" sz="3000" b="1" smtClean="0">
                <a:latin typeface="Times New Roman" panose="02020603050405020304" pitchFamily="18" charset="0"/>
                <a:cs typeface="Times New Roman" panose="02020603050405020304" pitchFamily="18" charset="0"/>
              </a:rPr>
              <a:t>4. State và props trong React</a:t>
            </a:r>
            <a:endParaRPr lang="en-US" sz="3000" b="1">
              <a:latin typeface="Times New Roman" panose="02020603050405020304" pitchFamily="18" charset="0"/>
              <a:cs typeface="Times New Roman" panose="02020603050405020304" pitchFamily="18" charset="0"/>
            </a:endParaRPr>
          </a:p>
        </p:txBody>
      </p:sp>
      <p:sp>
        <p:nvSpPr>
          <p:cNvPr id="7" name="Subtitle 6"/>
          <p:cNvSpPr>
            <a:spLocks noGrp="1"/>
          </p:cNvSpPr>
          <p:nvPr>
            <p:ph type="subTitle" idx="1"/>
          </p:nvPr>
        </p:nvSpPr>
        <p:spPr>
          <a:xfrm>
            <a:off x="457200" y="1352550"/>
            <a:ext cx="7924800" cy="2876550"/>
          </a:xfrm>
        </p:spPr>
        <p:txBody>
          <a:bodyPr>
            <a:normAutofit fontScale="77500" lnSpcReduction="20000"/>
          </a:bodyPr>
          <a:lstStyle/>
          <a:p>
            <a:pPr algn="just"/>
            <a:r>
              <a:rPr lang="en-US" b="1" smtClean="0">
                <a:solidFill>
                  <a:schemeClr val="tx1"/>
                </a:solidFill>
                <a:latin typeface="Times New Roman" panose="02020603050405020304" pitchFamily="18" charset="0"/>
                <a:cs typeface="Times New Roman" panose="02020603050405020304" pitchFamily="18" charset="0"/>
              </a:rPr>
              <a:t>Khái niệm state ?</a:t>
            </a:r>
          </a:p>
          <a:p>
            <a:pPr marL="457200" indent="-457200" algn="just">
              <a:buFont typeface="Wingdings" panose="05000000000000000000" pitchFamily="2" charset="2"/>
              <a:buChar char="Ø"/>
            </a:pPr>
            <a:r>
              <a:rPr lang="vi-VN" b="1" smtClean="0">
                <a:solidFill>
                  <a:schemeClr val="tx1"/>
                </a:solidFill>
                <a:latin typeface="Times New Roman" panose="02020603050405020304" pitchFamily="18" charset="0"/>
                <a:cs typeface="Times New Roman" panose="02020603050405020304" pitchFamily="18" charset="0"/>
              </a:rPr>
              <a:t>State</a:t>
            </a:r>
            <a:r>
              <a:rPr lang="vi-VN">
                <a:solidFill>
                  <a:schemeClr val="tx1"/>
                </a:solidFill>
                <a:latin typeface="Times New Roman" panose="02020603050405020304" pitchFamily="18" charset="0"/>
                <a:cs typeface="Times New Roman" panose="02020603050405020304" pitchFamily="18" charset="0"/>
              </a:rPr>
              <a:t> là một object có thể được sử dụng để chứa dữ liệu hoặc thông tin về components. </a:t>
            </a:r>
            <a:endParaRPr lang="en-US"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vi-VN">
                <a:solidFill>
                  <a:schemeClr val="tx1"/>
                </a:solidFill>
                <a:latin typeface="Times New Roman" panose="02020603050405020304" pitchFamily="18" charset="0"/>
                <a:cs typeface="Times New Roman" panose="02020603050405020304" pitchFamily="18" charset="0"/>
              </a:rPr>
              <a:t>State có thể được thay đổi bất cứ khi nào mong </a:t>
            </a:r>
            <a:r>
              <a:rPr lang="vi-VN" smtClean="0">
                <a:solidFill>
                  <a:schemeClr val="tx1"/>
                </a:solidFill>
                <a:latin typeface="Times New Roman" panose="02020603050405020304" pitchFamily="18" charset="0"/>
                <a:cs typeface="Times New Roman" panose="02020603050405020304" pitchFamily="18" charset="0"/>
              </a:rPr>
              <a:t>muốn</a:t>
            </a:r>
            <a:r>
              <a:rPr lang="en-US" smtClean="0">
                <a:solidFill>
                  <a:schemeClr val="tx1"/>
                </a:solidFill>
                <a:latin typeface="Times New Roman" panose="02020603050405020304" pitchFamily="18" charset="0"/>
                <a:cs typeface="Times New Roman" panose="02020603050405020304" pitchFamily="18" charset="0"/>
              </a:rPr>
              <a:t>,</a:t>
            </a:r>
            <a:r>
              <a:rPr lang="en-US">
                <a:solidFill>
                  <a:schemeClr val="tx1"/>
                </a:solidFill>
                <a:latin typeface="Times New Roman" panose="02020603050405020304" pitchFamily="18" charset="0"/>
                <a:cs typeface="Times New Roman" panose="02020603050405020304" pitchFamily="18" charset="0"/>
              </a:rPr>
              <a:t> </a:t>
            </a:r>
            <a:r>
              <a:rPr lang="vi-VN" smtClean="0">
                <a:solidFill>
                  <a:schemeClr val="tx1"/>
                </a:solidFill>
                <a:latin typeface="Times New Roman" panose="02020603050405020304" pitchFamily="18" charset="0"/>
                <a:cs typeface="Times New Roman" panose="02020603050405020304" pitchFamily="18" charset="0"/>
              </a:rPr>
              <a:t>mỗi </a:t>
            </a:r>
            <a:r>
              <a:rPr lang="vi-VN">
                <a:solidFill>
                  <a:schemeClr val="tx1"/>
                </a:solidFill>
                <a:latin typeface="Times New Roman" panose="02020603050405020304" pitchFamily="18" charset="0"/>
                <a:cs typeface="Times New Roman" panose="02020603050405020304" pitchFamily="18" charset="0"/>
              </a:rPr>
              <a:t>khi state thay đổi thì components đó sẽ được render lại</a:t>
            </a:r>
            <a:r>
              <a:rPr lang="vi-VN" smtClean="0">
                <a:solidFill>
                  <a:schemeClr val="tx1"/>
                </a:solidFill>
                <a:latin typeface="Times New Roman" panose="02020603050405020304" pitchFamily="18" charset="0"/>
                <a:cs typeface="Times New Roman" panose="02020603050405020304" pitchFamily="18" charset="0"/>
              </a:rPr>
              <a:t>.</a:t>
            </a:r>
            <a:endParaRPr lang="en-US"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a:solidFill>
                  <a:schemeClr val="tx1"/>
                </a:solidFill>
                <a:latin typeface="Times New Roman" panose="02020603050405020304" pitchFamily="18" charset="0"/>
                <a:cs typeface="Times New Roman" panose="02020603050405020304" pitchFamily="18" charset="0"/>
              </a:rPr>
              <a:t>Chúng ta có thể thao tác với </a:t>
            </a:r>
            <a:r>
              <a:rPr lang="en-US" b="1">
                <a:solidFill>
                  <a:schemeClr val="tx1"/>
                </a:solidFill>
                <a:latin typeface="Times New Roman" panose="02020603050405020304" pitchFamily="18" charset="0"/>
                <a:cs typeface="Times New Roman" panose="02020603050405020304" pitchFamily="18" charset="0"/>
              </a:rPr>
              <a:t>state</a:t>
            </a:r>
            <a:r>
              <a:rPr lang="en-US">
                <a:solidFill>
                  <a:schemeClr val="tx1"/>
                </a:solidFill>
                <a:latin typeface="Times New Roman" panose="02020603050405020304" pitchFamily="18" charset="0"/>
                <a:cs typeface="Times New Roman" panose="02020603050405020304" pitchFamily="18" charset="0"/>
              </a:rPr>
              <a:t> trong một component rất dễ dàng bằng cách sử dụng class components</a:t>
            </a:r>
          </a:p>
        </p:txBody>
      </p:sp>
    </p:spTree>
    <p:extLst>
      <p:ext uri="{BB962C8B-B14F-4D97-AF65-F5344CB8AC3E}">
        <p14:creationId xmlns:p14="http://schemas.microsoft.com/office/powerpoint/2010/main" val="988446253"/>
      </p:ext>
    </p:extLst>
  </p:cSld>
  <p:clrMapOvr>
    <a:masterClrMapping/>
  </p:clrMapOvr>
  <p:transition spd="med">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477054"/>
          </a:xfrm>
          <a:prstGeom prst="rect">
            <a:avLst/>
          </a:prstGeom>
          <a:noFill/>
        </p:spPr>
        <p:txBody>
          <a:bodyPr wrap="none" rtlCol="0">
            <a:spAutoFit/>
          </a:bodyPr>
          <a:lstStyle/>
          <a:p>
            <a:endParaRPr lang="en-US" sz="2500">
              <a:latin typeface="Times New Roman" panose="02020603050405020304" pitchFamily="18" charset="0"/>
              <a:cs typeface="Times New Roman" panose="02020603050405020304" pitchFamily="18" charset="0"/>
            </a:endParaRPr>
          </a:p>
        </p:txBody>
      </p:sp>
      <p:sp>
        <p:nvSpPr>
          <p:cNvPr id="7" name="Subtitle 6"/>
          <p:cNvSpPr>
            <a:spLocks noGrp="1"/>
          </p:cNvSpPr>
          <p:nvPr>
            <p:ph type="subTitle" idx="1"/>
          </p:nvPr>
        </p:nvSpPr>
        <p:spPr>
          <a:xfrm>
            <a:off x="228600" y="742452"/>
            <a:ext cx="8229600" cy="3658098"/>
          </a:xfrm>
        </p:spPr>
        <p:txBody>
          <a:bodyPr>
            <a:noAutofit/>
          </a:bodyPr>
          <a:lstStyle/>
          <a:p>
            <a:pPr algn="just"/>
            <a:r>
              <a:rPr lang="en-US" sz="2400" b="1" smtClean="0">
                <a:solidFill>
                  <a:schemeClr val="tx1"/>
                </a:solidFill>
                <a:latin typeface="Times New Roman" panose="02020603050405020304" pitchFamily="18" charset="0"/>
                <a:cs typeface="Times New Roman" panose="02020603050405020304" pitchFamily="18" charset="0"/>
              </a:rPr>
              <a:t>Khái niệm Props trong react ?</a:t>
            </a:r>
          </a:p>
          <a:p>
            <a:pPr marL="457200" indent="-457200" algn="just">
              <a:buFont typeface="Wingdings" panose="05000000000000000000" pitchFamily="2" charset="2"/>
              <a:buChar char="Ø"/>
            </a:pPr>
            <a:r>
              <a:rPr lang="vi-VN" sz="2400" smtClean="0">
                <a:solidFill>
                  <a:schemeClr val="tx1"/>
                </a:solidFill>
                <a:latin typeface="Times New Roman" panose="02020603050405020304" pitchFamily="18" charset="0"/>
                <a:cs typeface="Times New Roman" panose="02020603050405020304" pitchFamily="18" charset="0"/>
              </a:rPr>
              <a:t>Props là một object được truyền vào trong một components, mỗi components sẽ nhận vào props và trả về react element.</a:t>
            </a:r>
            <a:endParaRPr lang="en-US" sz="240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vi-VN" sz="2400" smtClean="0">
                <a:solidFill>
                  <a:schemeClr val="tx1"/>
                </a:solidFill>
                <a:latin typeface="Times New Roman" panose="02020603050405020304" pitchFamily="18" charset="0"/>
                <a:cs typeface="Times New Roman" panose="02020603050405020304" pitchFamily="18" charset="0"/>
              </a:rPr>
              <a:t>Props cho phép chúng ta giao tiếp giữa các components với nhau bằng cách truyền tham số qua lại giữa các components.</a:t>
            </a:r>
            <a:endParaRPr lang="en-US" sz="2400" smtClean="0">
              <a:solidFill>
                <a:schemeClr val="tx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vi-VN" sz="2400" smtClean="0">
                <a:solidFill>
                  <a:schemeClr val="tx1"/>
                </a:solidFill>
                <a:latin typeface="Times New Roman" panose="02020603050405020304" pitchFamily="18" charset="0"/>
                <a:cs typeface="Times New Roman" panose="02020603050405020304" pitchFamily="18" charset="0"/>
              </a:rPr>
              <a:t>Khi một components cha truyền cho component con một props thì components con chỉ có thể đọc và không có quyền chỉnh sửa nó bên phía components cha.</a:t>
            </a:r>
            <a:endParaRPr lang="en-US" sz="240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40620570"/>
      </p:ext>
    </p:extLst>
  </p:cSld>
  <p:clrMapOvr>
    <a:masterClrMapping/>
  </p:clrMapOvr>
  <p:transition spd="med">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Subtitle 6"/>
          <p:cNvSpPr>
            <a:spLocks noGrp="1"/>
          </p:cNvSpPr>
          <p:nvPr>
            <p:ph type="subTitle" idx="1"/>
          </p:nvPr>
        </p:nvSpPr>
        <p:spPr>
          <a:xfrm>
            <a:off x="457200" y="699017"/>
            <a:ext cx="8115300" cy="3701534"/>
          </a:xfrm>
        </p:spPr>
        <p:txBody>
          <a:bodyPr>
            <a:noAutofit/>
          </a:bodyPr>
          <a:lstStyle/>
          <a:p>
            <a:pPr algn="just"/>
            <a:r>
              <a:rPr lang="en-US" sz="2500" b="1" smtClean="0">
                <a:solidFill>
                  <a:schemeClr val="tx1"/>
                </a:solidFill>
                <a:latin typeface="Times New Roman" panose="02020603050405020304" pitchFamily="18" charset="0"/>
                <a:cs typeface="Times New Roman" panose="02020603050405020304" pitchFamily="18" charset="0"/>
              </a:rPr>
              <a:t>So sánh khác nhau đơn giản về State và Props:</a:t>
            </a:r>
          </a:p>
          <a:p>
            <a:pPr marL="457200" indent="-457200" algn="just">
              <a:buFont typeface="Wingdings" panose="05000000000000000000" pitchFamily="2" charset="2"/>
              <a:buChar char="§"/>
            </a:pPr>
            <a:r>
              <a:rPr lang="vi-VN" sz="2500" b="1" smtClean="0">
                <a:solidFill>
                  <a:schemeClr val="tx1"/>
                </a:solidFill>
                <a:latin typeface="Times New Roman" panose="02020603050405020304" pitchFamily="18" charset="0"/>
                <a:cs typeface="Times New Roman" panose="02020603050405020304" pitchFamily="18" charset="0"/>
              </a:rPr>
              <a:t>State</a:t>
            </a:r>
            <a:r>
              <a:rPr lang="en-US" sz="2500" b="1" smtClean="0">
                <a:solidFill>
                  <a:schemeClr val="tx1"/>
                </a:solidFill>
                <a:latin typeface="Times New Roman" panose="02020603050405020304" pitchFamily="18" charset="0"/>
                <a:cs typeface="Times New Roman" panose="02020603050405020304" pitchFamily="18" charset="0"/>
              </a:rPr>
              <a:t> :</a:t>
            </a:r>
            <a:r>
              <a:rPr lang="en-US" sz="2500" b="1">
                <a:solidFill>
                  <a:schemeClr val="tx1"/>
                </a:solidFill>
                <a:latin typeface="Times New Roman" panose="02020603050405020304" pitchFamily="18" charset="0"/>
                <a:cs typeface="Times New Roman" panose="02020603050405020304" pitchFamily="18" charset="0"/>
              </a:rPr>
              <a:t> </a:t>
            </a:r>
            <a:r>
              <a:rPr lang="vi-VN" sz="2500" smtClean="0">
                <a:solidFill>
                  <a:schemeClr val="tx1"/>
                </a:solidFill>
                <a:latin typeface="Times New Roman" panose="02020603050405020304" pitchFamily="18" charset="0"/>
                <a:cs typeface="Times New Roman" panose="02020603050405020304" pitchFamily="18" charset="0"/>
              </a:rPr>
              <a:t>Dữ </a:t>
            </a:r>
            <a:r>
              <a:rPr lang="vi-VN" sz="2500">
                <a:solidFill>
                  <a:schemeClr val="tx1"/>
                </a:solidFill>
                <a:latin typeface="Times New Roman" panose="02020603050405020304" pitchFamily="18" charset="0"/>
                <a:cs typeface="Times New Roman" panose="02020603050405020304" pitchFamily="18" charset="0"/>
              </a:rPr>
              <a:t>liệu chỉ nằm trong phạm vi của một component. Nó được sở hữu bởi một components cụ thể mà chỉ là của component đó thôi. </a:t>
            </a:r>
            <a:r>
              <a:rPr lang="vi-VN" sz="2500" smtClean="0">
                <a:solidFill>
                  <a:schemeClr val="tx1"/>
                </a:solidFill>
                <a:latin typeface="Times New Roman" panose="02020603050405020304" pitchFamily="18" charset="0"/>
                <a:cs typeface="Times New Roman" panose="02020603050405020304" pitchFamily="18" charset="0"/>
              </a:rPr>
              <a:t>Và </a:t>
            </a:r>
            <a:r>
              <a:rPr lang="vi-VN" sz="2500">
                <a:solidFill>
                  <a:schemeClr val="tx1"/>
                </a:solidFill>
                <a:latin typeface="Times New Roman" panose="02020603050405020304" pitchFamily="18" charset="0"/>
                <a:cs typeface="Times New Roman" panose="02020603050405020304" pitchFamily="18" charset="0"/>
              </a:rPr>
              <a:t>mỗi khi state thay đổi thì component cũng phải thay đổi theo.</a:t>
            </a:r>
          </a:p>
          <a:p>
            <a:pPr marL="457200" indent="-457200" algn="just">
              <a:buFont typeface="Wingdings" panose="05000000000000000000" pitchFamily="2" charset="2"/>
              <a:buChar char="§"/>
            </a:pPr>
            <a:r>
              <a:rPr lang="vi-VN" sz="2500" b="1" smtClean="0">
                <a:solidFill>
                  <a:schemeClr val="tx1"/>
                </a:solidFill>
                <a:latin typeface="Times New Roman" panose="02020603050405020304" pitchFamily="18" charset="0"/>
                <a:cs typeface="Times New Roman" panose="02020603050405020304" pitchFamily="18" charset="0"/>
              </a:rPr>
              <a:t>Props</a:t>
            </a:r>
            <a:r>
              <a:rPr lang="en-US" sz="2500" b="1" smtClean="0">
                <a:solidFill>
                  <a:schemeClr val="tx1"/>
                </a:solidFill>
                <a:latin typeface="Times New Roman" panose="02020603050405020304" pitchFamily="18" charset="0"/>
                <a:cs typeface="Times New Roman" panose="02020603050405020304" pitchFamily="18" charset="0"/>
              </a:rPr>
              <a:t> : </a:t>
            </a:r>
            <a:r>
              <a:rPr lang="vi-VN" sz="2500" smtClean="0">
                <a:solidFill>
                  <a:schemeClr val="tx1"/>
                </a:solidFill>
                <a:latin typeface="Times New Roman" panose="02020603050405020304" pitchFamily="18" charset="0"/>
                <a:cs typeface="Times New Roman" panose="02020603050405020304" pitchFamily="18" charset="0"/>
              </a:rPr>
              <a:t>Dữ </a:t>
            </a:r>
            <a:r>
              <a:rPr lang="vi-VN" sz="2500">
                <a:solidFill>
                  <a:schemeClr val="tx1"/>
                </a:solidFill>
                <a:latin typeface="Times New Roman" panose="02020603050405020304" pitchFamily="18" charset="0"/>
                <a:cs typeface="Times New Roman" panose="02020603050405020304" pitchFamily="18" charset="0"/>
              </a:rPr>
              <a:t>liệu đường truyền từ component cha cho componet con, components con khi nhận được sẽ chỉ được đọc mà không thể thay đổi dữ liệu đó</a:t>
            </a:r>
            <a:r>
              <a:rPr lang="vi-VN" sz="2500" smtClean="0">
                <a:solidFill>
                  <a:schemeClr val="tx1"/>
                </a:solidFill>
                <a:latin typeface="Times New Roman" panose="02020603050405020304" pitchFamily="18" charset="0"/>
                <a:cs typeface="Times New Roman" panose="02020603050405020304" pitchFamily="18" charset="0"/>
              </a:rPr>
              <a:t>.</a:t>
            </a:r>
            <a:endParaRPr lang="en-US" sz="2500" smtClean="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500" smtClean="0">
                <a:solidFill>
                  <a:schemeClr val="tx1"/>
                </a:solidFill>
                <a:latin typeface="Times New Roman" panose="02020603050405020304" pitchFamily="18" charset="0"/>
                <a:cs typeface="Times New Roman" panose="02020603050405020304" pitchFamily="18" charset="0"/>
              </a:rPr>
              <a:t>Functional component – React hook.</a:t>
            </a:r>
            <a:endParaRPr lang="vi-VN" sz="2500">
              <a:solidFill>
                <a:schemeClr val="tx1"/>
              </a:solidFill>
              <a:latin typeface="Times New Roman" panose="02020603050405020304" pitchFamily="18" charset="0"/>
              <a:cs typeface="Times New Roman" panose="02020603050405020304" pitchFamily="18" charset="0"/>
            </a:endParaRPr>
          </a:p>
          <a:p>
            <a:pPr algn="just"/>
            <a:r>
              <a:rPr lang="en-US" sz="2500" smtClean="0">
                <a:solidFill>
                  <a:schemeClr val="tx1"/>
                </a:solidFill>
                <a:latin typeface="Times New Roman" panose="02020603050405020304" pitchFamily="18" charset="0"/>
                <a:cs typeface="Times New Roman" panose="02020603050405020304" pitchFamily="18" charset="0"/>
              </a:rPr>
              <a:t> </a:t>
            </a:r>
            <a:endParaRPr lang="en-US" sz="25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319865"/>
      </p:ext>
    </p:extLst>
  </p:cSld>
  <p:clrMapOvr>
    <a:masterClrMapping/>
  </p:clrMapOvr>
  <p:transition spd="med">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itle 5"/>
          <p:cNvSpPr>
            <a:spLocks noGrp="1"/>
          </p:cNvSpPr>
          <p:nvPr>
            <p:ph type="ctrTitle"/>
          </p:nvPr>
        </p:nvSpPr>
        <p:spPr>
          <a:xfrm>
            <a:off x="304800" y="883683"/>
            <a:ext cx="8153400" cy="468867"/>
          </a:xfrm>
        </p:spPr>
        <p:txBody>
          <a:bodyPr>
            <a:noAutofit/>
          </a:bodyPr>
          <a:lstStyle/>
          <a:p>
            <a:pPr algn="l"/>
            <a:r>
              <a:rPr lang="en-US" sz="3000" b="1" smtClean="0">
                <a:latin typeface="Times New Roman" panose="02020603050405020304" pitchFamily="18" charset="0"/>
                <a:cs typeface="Times New Roman" panose="02020603050405020304" pitchFamily="18" charset="0"/>
              </a:rPr>
              <a:t>5 Redux ?</a:t>
            </a:r>
            <a:endParaRPr lang="en-US" sz="3000" b="1">
              <a:latin typeface="Times New Roman" panose="02020603050405020304" pitchFamily="18" charset="0"/>
              <a:cs typeface="Times New Roman" panose="02020603050405020304" pitchFamily="18" charset="0"/>
            </a:endParaRPr>
          </a:p>
        </p:txBody>
      </p:sp>
      <p:sp>
        <p:nvSpPr>
          <p:cNvPr id="7" name="Subtitle 6"/>
          <p:cNvSpPr>
            <a:spLocks noGrp="1"/>
          </p:cNvSpPr>
          <p:nvPr>
            <p:ph type="subTitle" idx="1"/>
          </p:nvPr>
        </p:nvSpPr>
        <p:spPr>
          <a:xfrm>
            <a:off x="381000" y="1352550"/>
            <a:ext cx="7924800" cy="2876550"/>
          </a:xfrm>
        </p:spPr>
        <p:txBody>
          <a:bodyPr>
            <a:normAutofit/>
          </a:bodyPr>
          <a:lstStyle/>
          <a:p>
            <a:pPr marL="514350" indent="-514350" algn="just">
              <a:buFont typeface="Wingdings" panose="05000000000000000000" pitchFamily="2" charset="2"/>
              <a:buChar char="Ø"/>
            </a:pPr>
            <a:r>
              <a:rPr lang="vi-VN" sz="2500" b="1">
                <a:solidFill>
                  <a:schemeClr val="tx1"/>
                </a:solidFill>
                <a:latin typeface="+mj-lt"/>
              </a:rPr>
              <a:t>Redux</a:t>
            </a:r>
            <a:r>
              <a:rPr lang="vi-VN" sz="2500">
                <a:solidFill>
                  <a:schemeClr val="tx1"/>
                </a:solidFill>
                <a:latin typeface="+mj-lt"/>
              </a:rPr>
              <a:t> là một thư viện cho phép chúng ta quản lý state trong một ứng dụng javascript. </a:t>
            </a:r>
            <a:endParaRPr lang="en-US" sz="2500" smtClean="0">
              <a:solidFill>
                <a:schemeClr val="tx1"/>
              </a:solidFill>
              <a:latin typeface="+mj-lt"/>
            </a:endParaRPr>
          </a:p>
          <a:p>
            <a:pPr marL="514350" indent="-514350" algn="just">
              <a:buFont typeface="Wingdings" panose="05000000000000000000" pitchFamily="2" charset="2"/>
              <a:buChar char="Ø"/>
            </a:pPr>
            <a:r>
              <a:rPr lang="vi-VN" sz="2500">
                <a:solidFill>
                  <a:schemeClr val="tx1"/>
                </a:solidFill>
                <a:latin typeface="+mj-lt"/>
              </a:rPr>
              <a:t>Redux sẽ giải quyết một bài toán </a:t>
            </a:r>
            <a:r>
              <a:rPr lang="vi-VN" sz="2500" smtClean="0">
                <a:solidFill>
                  <a:schemeClr val="tx1"/>
                </a:solidFill>
                <a:latin typeface="+mj-lt"/>
              </a:rPr>
              <a:t>quan </a:t>
            </a:r>
            <a:r>
              <a:rPr lang="vi-VN" sz="2500">
                <a:solidFill>
                  <a:schemeClr val="tx1"/>
                </a:solidFill>
                <a:latin typeface="+mj-lt"/>
              </a:rPr>
              <a:t>trọng đó là chia sẻ state. Như đã đề cập ở trên thì việc chia sẻ state giữa các component với nhau theo các thức truyền qua props là khá phức tạp và rắc rối.</a:t>
            </a:r>
            <a:endParaRPr lang="en-US" sz="2500">
              <a:solidFill>
                <a:schemeClr val="tx1"/>
              </a:solidFill>
              <a:latin typeface="+mj-lt"/>
            </a:endParaRPr>
          </a:p>
        </p:txBody>
      </p:sp>
    </p:spTree>
    <p:extLst>
      <p:ext uri="{BB962C8B-B14F-4D97-AF65-F5344CB8AC3E}">
        <p14:creationId xmlns:p14="http://schemas.microsoft.com/office/powerpoint/2010/main" val="140766166"/>
      </p:ext>
    </p:extLst>
  </p:cSld>
  <p:clrMapOvr>
    <a:masterClrMapping/>
  </p:clrMapOvr>
  <p:transition spd="med">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4969" y="971550"/>
            <a:ext cx="6354062" cy="3212068"/>
          </a:xfrm>
          <a:prstGeom prst="rect">
            <a:avLst/>
          </a:prstGeom>
        </p:spPr>
      </p:pic>
    </p:spTree>
    <p:extLst>
      <p:ext uri="{BB962C8B-B14F-4D97-AF65-F5344CB8AC3E}">
        <p14:creationId xmlns:p14="http://schemas.microsoft.com/office/powerpoint/2010/main" val="3562640486"/>
      </p:ext>
    </p:extLst>
  </p:cSld>
  <p:clrMapOvr>
    <a:masterClrMapping/>
  </p:clrMapOvr>
  <p:transition spd="med">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GIỚI THIỆU</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Subtitle 6"/>
          <p:cNvSpPr txBox="1">
            <a:spLocks noGrp="1"/>
          </p:cNvSpPr>
          <p:nvPr>
            <p:ph type="subTitle" idx="1"/>
          </p:nvPr>
        </p:nvSpPr>
        <p:spPr>
          <a:xfrm>
            <a:off x="381000" y="883682"/>
            <a:ext cx="8001000" cy="334541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
            </a:pPr>
            <a:r>
              <a:rPr lang="vi-VN" sz="2500" smtClean="0">
                <a:latin typeface="+mj-lt"/>
              </a:rPr>
              <a:t>Như hình bên trên khi chúng ta cần chia sẻ dữ liệu giữa các component với nhau bằng cách sử dụng props thì bắt bụôc phải thông qua các component trung gian</a:t>
            </a:r>
            <a:r>
              <a:rPr lang="en-US" sz="2500" smtClean="0">
                <a:latin typeface="+mj-lt"/>
              </a:rPr>
              <a:t>.</a:t>
            </a:r>
          </a:p>
          <a:p>
            <a:pPr algn="just">
              <a:buFont typeface="Wingdings" panose="05000000000000000000" pitchFamily="2" charset="2"/>
              <a:buChar char="§"/>
            </a:pPr>
            <a:r>
              <a:rPr lang="en-US" sz="2500" smtClean="0">
                <a:latin typeface="Times New Roman" panose="02020603050405020304" pitchFamily="18" charset="0"/>
                <a:cs typeface="Times New Roman" panose="02020603050405020304" pitchFamily="18" charset="0"/>
              </a:rPr>
              <a:t>Giải pháp : Ta sẽ lưu dữ liệu vào store và phát dữ liệu  cho các component cần thiết. Lúc này Store đóng vai trò trung gian</a:t>
            </a:r>
            <a:endParaRPr lang="en-US" sz="25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5242001"/>
      </p:ext>
    </p:extLst>
  </p:cSld>
  <p:clrMapOvr>
    <a:masterClrMapping/>
  </p:clrMapOvr>
  <p:transition spd="med">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83497"/>
          <a:stretch/>
        </p:blipFill>
        <p:spPr>
          <a:xfrm>
            <a:off x="0" y="1"/>
            <a:ext cx="9144000" cy="800100"/>
          </a:xfrm>
          <a:prstGeom prst="rect">
            <a:avLst/>
          </a:prstGeom>
        </p:spPr>
      </p:pic>
      <p:pic>
        <p:nvPicPr>
          <p:cNvPr id="3" name="Picture 2">
            <a:extLst>
              <a:ext uri="{FF2B5EF4-FFF2-40B4-BE49-F238E27FC236}">
                <a16:creationId xmlns="" xmlns:a16="http://schemas.microsoft.com/office/drawing/2014/main" id="{73E21654-BB23-4698-995F-0C57C55ED6B1}"/>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Lst>
          </a:blip>
          <a:srcRect t="82402" r="62264" b="5785"/>
          <a:stretch/>
        </p:blipFill>
        <p:spPr>
          <a:xfrm>
            <a:off x="0" y="4324349"/>
            <a:ext cx="9144000" cy="936365"/>
          </a:xfrm>
          <a:prstGeom prst="rect">
            <a:avLst/>
          </a:prstGeom>
        </p:spPr>
      </p:pic>
      <p:sp>
        <p:nvSpPr>
          <p:cNvPr id="4" name="TextBox 3"/>
          <p:cNvSpPr txBox="1"/>
          <p:nvPr/>
        </p:nvSpPr>
        <p:spPr>
          <a:xfrm>
            <a:off x="1905000" y="51435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 xmlns:a16="http://schemas.microsoft.com/office/drawing/2014/main" id="{6C26CF59-1F30-4854-B72A-4000E1A72804}"/>
              </a:ext>
            </a:extLst>
          </p:cNvPr>
          <p:cNvSpPr txBox="1"/>
          <p:nvPr/>
        </p:nvSpPr>
        <p:spPr>
          <a:xfrm>
            <a:off x="304800" y="157677"/>
            <a:ext cx="4572000" cy="584775"/>
          </a:xfrm>
          <a:prstGeom prst="rect">
            <a:avLst/>
          </a:prstGeom>
          <a:noFill/>
        </p:spPr>
        <p:txBody>
          <a:bodyPr wrap="square">
            <a:spAutoFit/>
          </a:bodyPr>
          <a:lstStyle/>
          <a:p>
            <a:r>
              <a:rPr lang="en-US" sz="3200" b="1"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rPr>
              <a:t>Demo game</a:t>
            </a:r>
            <a:endParaRPr lang="en-US" sz="32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925986513"/>
      </p:ext>
    </p:extLst>
  </p:cSld>
  <p:clrMapOvr>
    <a:masterClrMapping/>
  </p:clrMapOvr>
  <p:transition spd="med">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50"/>
            <a:ext cx="9144000" cy="5162550"/>
          </a:xfrm>
          <a:prstGeom prst="rect">
            <a:avLst/>
          </a:prstGeom>
        </p:spPr>
      </p:pic>
      <p:sp>
        <p:nvSpPr>
          <p:cNvPr id="5" name="TextBox 4"/>
          <p:cNvSpPr txBox="1"/>
          <p:nvPr/>
        </p:nvSpPr>
        <p:spPr>
          <a:xfrm>
            <a:off x="1981200" y="2000250"/>
            <a:ext cx="4953000" cy="830997"/>
          </a:xfrm>
          <a:prstGeom prst="rect">
            <a:avLst/>
          </a:prstGeom>
          <a:noFill/>
        </p:spPr>
        <p:txBody>
          <a:bodyPr wrap="square" rtlCol="0">
            <a:spAutoFit/>
          </a:bodyPr>
          <a:lstStyle/>
          <a:p>
            <a:pPr algn="ctr"/>
            <a:r>
              <a:rPr lang="en-US" sz="4800" b="1" i="1">
                <a:solidFill>
                  <a:schemeClr val="tx2"/>
                </a:solidFill>
              </a:rPr>
              <a:t>Thank you</a:t>
            </a:r>
          </a:p>
        </p:txBody>
      </p:sp>
    </p:spTree>
    <p:extLst>
      <p:ext uri="{BB962C8B-B14F-4D97-AF65-F5344CB8AC3E}">
        <p14:creationId xmlns:p14="http://schemas.microsoft.com/office/powerpoint/2010/main" val="3963132236"/>
      </p:ext>
    </p:extLst>
  </p:cSld>
  <p:clrMapOvr>
    <a:masterClrMapping/>
  </p:clrMapOvr>
  <p:transition spd="med">
    <p:split orient="vert"/>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2874</TotalTime>
  <Words>331</Words>
  <Application>Microsoft Office PowerPoint</Application>
  <PresentationFormat>On-screen Show (16:9)</PresentationFormat>
  <Paragraphs>56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MÔN HỌC:THỰC TẬP CHUYÊN MÔN  ĐỀ TÀI: TÌM HIỂU REACT – REDUX LÀM MỘT SỐ GAME ĐƠN GIẢN</vt:lpstr>
      <vt:lpstr>1. ReactJs là gì ?</vt:lpstr>
      <vt:lpstr>PowerPoint Presentation</vt:lpstr>
      <vt:lpstr>2. Jsx là gì ?</vt:lpstr>
      <vt:lpstr>3. Component ?</vt:lpstr>
      <vt:lpstr>4. State và props trong React</vt:lpstr>
      <vt:lpstr>PowerPoint Presentation</vt:lpstr>
      <vt:lpstr>PowerPoint Presentation</vt:lpstr>
      <vt:lpstr>5 Redux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PC</cp:lastModifiedBy>
  <cp:revision>170</cp:revision>
  <dcterms:created xsi:type="dcterms:W3CDTF">2017-10-17T01:43:35Z</dcterms:created>
  <dcterms:modified xsi:type="dcterms:W3CDTF">2021-06-26T05:09:37Z</dcterms:modified>
</cp:coreProperties>
</file>